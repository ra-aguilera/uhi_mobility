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8" r:id="rId12"/>
    <p:sldId id="269" r:id="rId13"/>
    <p:sldId id="265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Lexend Deca Medium" panose="020B0604020202020204" charset="0"/>
      <p:regular r:id="rId17"/>
      <p:bold r:id="rId18"/>
    </p:embeddedFont>
    <p:embeddedFont>
      <p:font typeface="Lexend Deca" panose="020B0604020202020204" charset="0"/>
      <p:regular r:id="rId19"/>
      <p:bold r:id="rId20"/>
    </p:embeddedFont>
    <p:embeddedFont>
      <p:font typeface="Catamaran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d+an7HEP6b2Tp343HxNQoUQU6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95259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00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67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555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368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398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5bd7597f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65bd7597f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4606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5bd7597fd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65bd7597f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19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5bd7597f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65bd7597f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4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5bd7597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65bd7597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111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6668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5536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70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915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>
            <a:spLocks noGrp="1"/>
          </p:cNvSpPr>
          <p:nvPr>
            <p:ph type="ctrTitle"/>
          </p:nvPr>
        </p:nvSpPr>
        <p:spPr>
          <a:xfrm>
            <a:off x="713225" y="1129925"/>
            <a:ext cx="7717500" cy="2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>
                <a:solidFill>
                  <a:srgbClr val="212529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ubTitle" idx="1"/>
          </p:nvPr>
        </p:nvSpPr>
        <p:spPr>
          <a:xfrm>
            <a:off x="2392500" y="3604075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313600" y="928914"/>
            <a:ext cx="8424000" cy="398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>
            <a:spLocks noGrp="1"/>
          </p:cNvSpPr>
          <p:nvPr>
            <p:ph type="subTitle" idx="1"/>
          </p:nvPr>
        </p:nvSpPr>
        <p:spPr>
          <a:xfrm>
            <a:off x="1029825" y="1470650"/>
            <a:ext cx="3368100" cy="22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ubTitle" idx="2"/>
          </p:nvPr>
        </p:nvSpPr>
        <p:spPr>
          <a:xfrm>
            <a:off x="4746075" y="2606350"/>
            <a:ext cx="3368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Deca"/>
              <a:buNone/>
              <a:defRPr sz="3500" b="0" i="0" u="none" strike="noStrike" cap="none">
                <a:solidFill>
                  <a:schemeClr val="dk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2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The-effect-of-Urban-Heat-Island-UHI_fig1_32631677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de.cl/index.php/noticias/actualizacion-de-la-cartografia-de-division-politica-administrativa-en-chil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tpm.cl/descargas/tablas/Zona777_ADATRAP.rar" TargetMode="External"/><Relationship Id="rId4" Type="http://schemas.openxmlformats.org/officeDocument/2006/relationships/hyperlink" Target="https://www.geoportal.cl/geoportal/catalog/36392/Ciclov%C3%ADa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>
            <a:spLocks noGrp="1"/>
          </p:cNvSpPr>
          <p:nvPr>
            <p:ph type="ctrTitle"/>
          </p:nvPr>
        </p:nvSpPr>
        <p:spPr>
          <a:xfrm>
            <a:off x="713225" y="1129925"/>
            <a:ext cx="7717500" cy="193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L" sz="3600"/>
              <a:t>Ciencia de Datos Geoespaciales</a:t>
            </a:r>
            <a:br>
              <a:rPr lang="es-CL" sz="3600"/>
            </a:br>
            <a:r>
              <a:rPr lang="es-CL" sz="3600"/>
              <a:t>Trabajo Final</a:t>
            </a:r>
            <a:endParaRPr sz="3600" b="1"/>
          </a:p>
        </p:txBody>
      </p:sp>
      <p:sp>
        <p:nvSpPr>
          <p:cNvPr id="25" name="Google Shape;25;p1"/>
          <p:cNvSpPr txBox="1">
            <a:spLocks noGrp="1"/>
          </p:cNvSpPr>
          <p:nvPr>
            <p:ph type="subTitle" idx="1"/>
          </p:nvPr>
        </p:nvSpPr>
        <p:spPr>
          <a:xfrm>
            <a:off x="2392500" y="3604075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400"/>
              <a:t>IMT2118     </a:t>
            </a:r>
            <a:endParaRPr/>
          </a:p>
        </p:txBody>
      </p:sp>
      <p:cxnSp>
        <p:nvCxnSpPr>
          <p:cNvPr id="26" name="Google Shape;26;p1"/>
          <p:cNvCxnSpPr/>
          <p:nvPr/>
        </p:nvCxnSpPr>
        <p:spPr>
          <a:xfrm>
            <a:off x="3017400" y="3391869"/>
            <a:ext cx="31092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1"/>
          <p:cNvSpPr txBox="1"/>
          <p:nvPr/>
        </p:nvSpPr>
        <p:spPr>
          <a:xfrm>
            <a:off x="1934075" y="4225775"/>
            <a:ext cx="527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Gabriel Chacin Lira 				 Richard Aguilera Saldaña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2492100" y="4724825"/>
            <a:ext cx="415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dirty="0">
                <a:solidFill>
                  <a:srgbClr val="434343"/>
                </a:solidFill>
                <a:latin typeface="Lexend Deca"/>
                <a:ea typeface="Lexend Deca"/>
                <a:cs typeface="Lexend Deca"/>
                <a:sym typeface="Lexend Deca"/>
              </a:rPr>
              <a:t>Repositorio: https://github.com/ra-aguilera/UHI_Mobility.git</a:t>
            </a:r>
            <a:endParaRPr sz="1000" dirty="0">
              <a:solidFill>
                <a:srgbClr val="434343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"/>
          <p:cNvPicPr preferRelativeResize="0"/>
          <p:nvPr/>
        </p:nvPicPr>
        <p:blipFill rotWithShape="1">
          <a:blip r:embed="rId3">
            <a:alphaModFix amt="30000"/>
          </a:blip>
          <a:srcRect l="4111" r="41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/>
              <a:t>Introducción </a:t>
            </a:r>
            <a:r>
              <a:rPr lang="es-CL" sz="2400" dirty="0" smtClean="0"/>
              <a:t>y Descripción del Problema</a:t>
            </a:r>
            <a:endParaRPr dirty="0"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2401650" y="974729"/>
            <a:ext cx="43407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s-CL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Islas de calor y movilidad urbana</a:t>
            </a:r>
            <a:endParaRPr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553600" y="1438225"/>
            <a:ext cx="80886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Zonas donde la temperatura superficial es significativamente más alta debido a la acumulación de calor por diversos factores, como el entorno construido, emisión energética de maquinaria, sectores industriales, entre otros.</a:t>
            </a:r>
            <a:endParaRPr sz="18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Este fenómeno se intensifica en ciudades como Santiago, donde la infraestructura vial,  la escasez de vegetación y la condensación demográfica contribuyen al aumento térmico.</a:t>
            </a:r>
            <a:endParaRPr sz="18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dirty="0"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677000" y="4305925"/>
            <a:ext cx="146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latin typeface="Catamaran"/>
                <a:ea typeface="Catamaran"/>
                <a:cs typeface="Catamaran"/>
                <a:sym typeface="Catamaran"/>
                <a:hlinkClick r:id="rId4"/>
              </a:rPr>
              <a:t>Fuente imagen 1</a:t>
            </a:r>
            <a:endParaRPr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313600" y="218841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CL" sz="2400" dirty="0"/>
              <a:t>Introducción y Descripción del Problema</a:t>
            </a:r>
            <a:endParaRPr sz="2400" dirty="0"/>
          </a:p>
        </p:txBody>
      </p:sp>
      <p:sp>
        <p:nvSpPr>
          <p:cNvPr id="6" name="Google Shape;36;p3"/>
          <p:cNvSpPr txBox="1"/>
          <p:nvPr/>
        </p:nvSpPr>
        <p:spPr>
          <a:xfrm>
            <a:off x="527700" y="791541"/>
            <a:ext cx="80886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algn="ctr">
              <a:lnSpc>
                <a:spcPct val="115000"/>
              </a:lnSpc>
            </a:pPr>
            <a:r>
              <a:rPr lang="es-ES" sz="1800" dirty="0" smtClean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El objetivo es identificar</a:t>
            </a:r>
            <a:r>
              <a:rPr lang="es-ES" sz="18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cuantificar y analizar espacialmente la distribución de islas de calor en Santiago entre 2015 y </a:t>
            </a:r>
            <a:r>
              <a:rPr lang="es-ES" sz="1800" dirty="0" smtClean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2025, </a:t>
            </a:r>
            <a:r>
              <a:rPr lang="es-ES" sz="18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evaluando su correlación con variables de movilidad urbana (infraestructura vial, </a:t>
            </a:r>
            <a:r>
              <a:rPr lang="es-ES" sz="18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ciclovías</a:t>
            </a:r>
            <a:r>
              <a:rPr lang="es-ES" sz="18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paraderos de transporte público), y visualizar los resultados mediante herramientas de análisis geoespacial.</a:t>
            </a:r>
            <a:endParaRPr lang="es-CL" sz="1800" dirty="0" smtClean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7" name="Google Shape;36;p3"/>
          <p:cNvSpPr txBox="1"/>
          <p:nvPr/>
        </p:nvSpPr>
        <p:spPr>
          <a:xfrm>
            <a:off x="527700" y="2887469"/>
            <a:ext cx="80886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7429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dk1"/>
                </a:solidFill>
                <a:latin typeface="Lexend Deca" panose="020B0604020202020204" charset="0"/>
                <a:ea typeface="Lexend Deca"/>
                <a:cs typeface="Lexend Deca"/>
                <a:sym typeface="Lexend Deca"/>
              </a:rPr>
              <a:t>¿Qué comunas presentan las mayores temperaturas superficiales durante el verano</a:t>
            </a:r>
            <a:r>
              <a:rPr lang="es-ES" sz="1800" dirty="0" smtClean="0">
                <a:solidFill>
                  <a:schemeClr val="dk1"/>
                </a:solidFill>
                <a:latin typeface="Lexend Deca" panose="020B0604020202020204" charset="0"/>
                <a:ea typeface="Lexend Deca"/>
                <a:cs typeface="Lexend Deca"/>
                <a:sym typeface="Lexend Deca"/>
              </a:rPr>
              <a:t>?</a:t>
            </a:r>
          </a:p>
          <a:p>
            <a:pPr marL="457200" lvl="0">
              <a:lnSpc>
                <a:spcPct val="115000"/>
              </a:lnSpc>
            </a:pPr>
            <a:endParaRPr lang="es-ES" sz="1800" dirty="0" smtClean="0">
              <a:solidFill>
                <a:schemeClr val="dk1"/>
              </a:solidFill>
              <a:latin typeface="Lexend Deca" panose="020B0604020202020204" charset="0"/>
              <a:ea typeface="Lexend Deca"/>
              <a:cs typeface="Lexend Deca"/>
              <a:sym typeface="Lexend Deca"/>
            </a:endParaRPr>
          </a:p>
          <a:p>
            <a:pPr marL="7429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800" dirty="0" smtClean="0">
                <a:solidFill>
                  <a:schemeClr val="hlink"/>
                </a:solidFill>
                <a:latin typeface="Lexend Deca" panose="020B0604020202020204" charset="0"/>
                <a:ea typeface="Lexend Deca"/>
                <a:cs typeface="Lexend Deca"/>
                <a:sym typeface="Lexend Deca"/>
              </a:rPr>
              <a:t>¿</a:t>
            </a:r>
            <a:r>
              <a:rPr lang="es-ES" sz="1800" dirty="0">
                <a:solidFill>
                  <a:schemeClr val="hlink"/>
                </a:solidFill>
                <a:latin typeface="Lexend Deca" panose="020B0604020202020204" charset="0"/>
                <a:ea typeface="Lexend Deca"/>
                <a:cs typeface="Lexend Deca"/>
                <a:sym typeface="Lexend Deca"/>
              </a:rPr>
              <a:t>Existe relación entre la red vial (longitud total de calles) y la temperatura</a:t>
            </a:r>
            <a:r>
              <a:rPr lang="es-ES" sz="1800" dirty="0" smtClean="0">
                <a:solidFill>
                  <a:schemeClr val="hlink"/>
                </a:solidFill>
                <a:latin typeface="Lexend Deca" panose="020B0604020202020204" charset="0"/>
                <a:ea typeface="Lexend Deca"/>
                <a:cs typeface="Lexend Deca"/>
                <a:sym typeface="Lexend Deca"/>
              </a:rPr>
              <a:t>?</a:t>
            </a:r>
          </a:p>
        </p:txBody>
      </p:sp>
      <p:sp>
        <p:nvSpPr>
          <p:cNvPr id="8" name="Google Shape;35;p3"/>
          <p:cNvSpPr txBox="1">
            <a:spLocks/>
          </p:cNvSpPr>
          <p:nvPr/>
        </p:nvSpPr>
        <p:spPr>
          <a:xfrm>
            <a:off x="2355250" y="2756202"/>
            <a:ext cx="43407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 sz="18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●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tamaran"/>
              <a:buChar char="○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Catamaran"/>
              <a:buChar char="■"/>
              <a:defRPr sz="1400" b="0" i="0" u="none" strike="noStrike" cap="none">
                <a:solidFill>
                  <a:srgbClr val="434343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 algn="ctr">
              <a:lnSpc>
                <a:spcPct val="115000"/>
              </a:lnSpc>
              <a:buClr>
                <a:schemeClr val="hlink"/>
              </a:buClr>
              <a:buSzPts val="1100"/>
              <a:buFont typeface="Arial"/>
              <a:buNone/>
            </a:pPr>
            <a:r>
              <a:rPr lang="es-ES" b="1" dirty="0" smtClean="0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Preguntas de investigación</a:t>
            </a:r>
            <a:endParaRPr lang="es-CL" dirty="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1165435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/>
              <a:t>Identificación y Descripción de Datos a utilizar </a:t>
            </a:r>
            <a:endParaRPr sz="2400"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220600" y="933900"/>
            <a:ext cx="86100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Deca"/>
              <a:buChar char="●"/>
            </a:pPr>
            <a:r>
              <a:rPr lang="es-CL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Raster</a:t>
            </a: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(</a:t>
            </a:r>
            <a:r>
              <a:rPr lang="es-CL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Landsat</a:t>
            </a: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8 </a:t>
            </a:r>
            <a:r>
              <a:rPr lang="es-CL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Collection</a:t>
            </a: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2 </a:t>
            </a:r>
            <a:r>
              <a:rPr lang="es-CL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Level</a:t>
            </a: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2) disponible en Google </a:t>
            </a:r>
            <a:r>
              <a:rPr lang="es-CL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Earth</a:t>
            </a: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s-CL" dirty="0" err="1" smtClean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Engine</a:t>
            </a:r>
            <a:r>
              <a:rPr lang="es-CL" dirty="0" smtClean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(30m/pixel)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NDVI: índice de vegetación que representa la densidad y salud del follaje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NDBI: índice que indica la presencia de estructuras construidas (urbano)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LST: temperatura superficial, derivada de la banda térmica B10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Deca"/>
              <a:buChar char="●"/>
            </a:pPr>
            <a:r>
              <a:rPr lang="es-CL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Capas vectoriales: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Comunas – </a:t>
            </a:r>
            <a:r>
              <a:rPr lang="es-CL" sz="1400" dirty="0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Fuente:</a:t>
            </a:r>
            <a:r>
              <a:rPr lang="es-CL" sz="1400" u="sng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IDE Chile 2023</a:t>
            </a:r>
            <a:r>
              <a:rPr lang="es-CL" sz="1400" u="sng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.</a:t>
            </a:r>
            <a:endParaRPr sz="1400" u="sng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Red vial urbana: Fuente: </a:t>
            </a: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OpenStreetMap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(extraído con </a:t>
            </a: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osmnx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) Incluye calles, avenidas, autopistas.</a:t>
            </a:r>
            <a:endParaRPr sz="14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Ciclovías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: descargadas desde el </a:t>
            </a:r>
            <a:r>
              <a:rPr lang="es-CL" sz="1400" u="sng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Geoportal</a:t>
            </a:r>
            <a:r>
              <a:rPr lang="es-CL" sz="1400" u="sng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SECTRA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. Representa infraestructura ciclista actual. </a:t>
            </a:r>
            <a:endParaRPr sz="14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</a:pP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“</a:t>
            </a:r>
            <a:r>
              <a:rPr lang="es-CL" sz="1400" u="sng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Dúo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” de datos de ubicación de paradas de buses y estaciones de metro, compuesto por un </a:t>
            </a: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excel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y un </a:t>
            </a: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shapefile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de las comunas de </a:t>
            </a:r>
            <a:r>
              <a:rPr lang="es-CL" sz="14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santiago</a:t>
            </a:r>
            <a:r>
              <a:rPr lang="es-CL" sz="14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extraído de Matrices de Viaje (Directorio de Transporte Público Metropolitano).</a:t>
            </a:r>
            <a:endParaRPr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/>
              <a:t>Procesamiento de Datos Geoespaciales</a:t>
            </a:r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1"/>
          </p:nvPr>
        </p:nvSpPr>
        <p:spPr>
          <a:xfrm>
            <a:off x="313600" y="1076294"/>
            <a:ext cx="84240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 algn="just">
              <a:buSzPts val="1600"/>
            </a:pP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Se descargan y preparan imágenes por estación (verano), por región (área metropolitana de Santiago) y por nubosidad (&lt; 20%), asegurando datos con condiciones similares (días despejados, misma estación).</a:t>
            </a: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algn="just">
              <a:buSzPts val="1600"/>
            </a:pP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Se crea un </a:t>
            </a:r>
            <a:r>
              <a:rPr lang="es-CL" sz="16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composite</a:t>
            </a: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para cada año </a:t>
            </a:r>
            <a:r>
              <a:rPr lang="es-CL" sz="1600" dirty="0" smtClean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(2015 y 2024) </a:t>
            </a: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usando la mediana, reduciendo el efecto de imágenes atípicas.</a:t>
            </a: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algn="just">
              <a:buSzPts val="1600"/>
            </a:pP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Se calcula la temperatura superficial (LST), la cobertura vegetal (NDVI) y la infraestructura urbana (NDBI)</a:t>
            </a: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algn="just">
              <a:buSzPts val="1600"/>
            </a:pP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Se emplea </a:t>
            </a:r>
            <a:r>
              <a:rPr lang="es-CL" sz="1600" dirty="0" err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geemap</a:t>
            </a: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para mapear LST, NDVI y NDBI.</a:t>
            </a: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-330200" algn="just">
              <a:lnSpc>
                <a:spcPct val="115000"/>
              </a:lnSpc>
              <a:buSzPts val="1600"/>
            </a:pPr>
            <a:r>
              <a:rPr lang="es-CL" sz="160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Se visualizan y preparan nuestras capas vectoriales para futuros análisis.</a:t>
            </a:r>
            <a:endParaRPr sz="16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5bd7597fd_0_24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preliminares</a:t>
            </a:r>
            <a:endParaRPr sz="2400" dirty="0"/>
          </a:p>
        </p:txBody>
      </p:sp>
      <p:sp>
        <p:nvSpPr>
          <p:cNvPr id="55" name="Google Shape;55;g365bd7597fd_0_24"/>
          <p:cNvSpPr txBox="1">
            <a:spLocks noGrp="1"/>
          </p:cNvSpPr>
          <p:nvPr>
            <p:ph type="body" idx="1"/>
          </p:nvPr>
        </p:nvSpPr>
        <p:spPr>
          <a:xfrm>
            <a:off x="313600" y="798550"/>
            <a:ext cx="8424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"/>
              <a:buChar char="●"/>
            </a:pPr>
            <a:r>
              <a:rPr lang="es-CL" sz="1600">
                <a:latin typeface="Lexend Deca"/>
                <a:ea typeface="Lexend Deca"/>
                <a:cs typeface="Lexend Deca"/>
                <a:sym typeface="Lexend Deca"/>
              </a:rPr>
              <a:t>Infraestructura de movilidad completa en la Región Metropolitana</a:t>
            </a:r>
            <a:endParaRPr sz="160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/>
          </a:p>
        </p:txBody>
      </p:sp>
      <p:grpSp>
        <p:nvGrpSpPr>
          <p:cNvPr id="56" name="Google Shape;56;g365bd7597fd_0_24"/>
          <p:cNvGrpSpPr/>
          <p:nvPr/>
        </p:nvGrpSpPr>
        <p:grpSpPr>
          <a:xfrm>
            <a:off x="394175" y="1298129"/>
            <a:ext cx="8355647" cy="3412263"/>
            <a:chOff x="295850" y="1292754"/>
            <a:chExt cx="8355647" cy="3412263"/>
          </a:xfrm>
        </p:grpSpPr>
        <p:grpSp>
          <p:nvGrpSpPr>
            <p:cNvPr id="57" name="Google Shape;57;g365bd7597fd_0_24"/>
            <p:cNvGrpSpPr/>
            <p:nvPr/>
          </p:nvGrpSpPr>
          <p:grpSpPr>
            <a:xfrm>
              <a:off x="295850" y="1292775"/>
              <a:ext cx="4101626" cy="3412235"/>
              <a:chOff x="600650" y="1292775"/>
              <a:chExt cx="4101626" cy="3412235"/>
            </a:xfrm>
          </p:grpSpPr>
          <p:pic>
            <p:nvPicPr>
              <p:cNvPr id="58" name="Google Shape;58;g365bd7597fd_0_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0650" y="1292776"/>
                <a:ext cx="1980000" cy="16790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g365bd7597fd_0_2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00650" y="3117050"/>
                <a:ext cx="1980000" cy="15879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g365bd7597fd_0_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722275" y="1292775"/>
                <a:ext cx="1979999" cy="167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g365bd7597fd_0_2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722275" y="3117050"/>
                <a:ext cx="1980001" cy="1587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2" name="Google Shape;62;g365bd7597fd_0_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618224" y="1292754"/>
              <a:ext cx="4033274" cy="34122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5bd7597fd_0_56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preliminares</a:t>
            </a:r>
            <a:endParaRPr sz="2400" dirty="0"/>
          </a:p>
        </p:txBody>
      </p:sp>
      <p:sp>
        <p:nvSpPr>
          <p:cNvPr id="78" name="Google Shape;78;g365bd7597fd_0_56"/>
          <p:cNvSpPr txBox="1">
            <a:spLocks noGrp="1"/>
          </p:cNvSpPr>
          <p:nvPr>
            <p:ph type="body" idx="1"/>
          </p:nvPr>
        </p:nvSpPr>
        <p:spPr>
          <a:xfrm>
            <a:off x="313600" y="740575"/>
            <a:ext cx="8424000" cy="24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"/>
              <a:buChar char="●"/>
            </a:pP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Mapas generados con los índices NDVI, NDBI y LST correspondientes a los veranos de 2024.</a:t>
            </a:r>
            <a:endParaRPr sz="1600" dirty="0"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"/>
              <a:buChar char="●"/>
            </a:pP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Uso de imágenes </a:t>
            </a:r>
            <a:r>
              <a:rPr lang="es-CL" sz="1600" dirty="0" err="1">
                <a:latin typeface="Lexend Deca"/>
                <a:ea typeface="Lexend Deca"/>
                <a:cs typeface="Lexend Deca"/>
                <a:sym typeface="Lexend Deca"/>
              </a:rPr>
              <a:t>Landsat</a:t>
            </a: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 8 filtradas por cobertura nubosas y procesadas con Google </a:t>
            </a:r>
            <a:r>
              <a:rPr lang="es-CL" sz="1600" dirty="0" err="1">
                <a:latin typeface="Lexend Deca"/>
                <a:ea typeface="Lexend Deca"/>
                <a:cs typeface="Lexend Deca"/>
                <a:sym typeface="Lexend Deca"/>
              </a:rPr>
              <a:t>Earth</a:t>
            </a: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s-CL" sz="1600" dirty="0" err="1">
                <a:latin typeface="Lexend Deca"/>
                <a:ea typeface="Lexend Deca"/>
                <a:cs typeface="Lexend Deca"/>
                <a:sym typeface="Lexend Deca"/>
              </a:rPr>
              <a:t>Engine</a:t>
            </a: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sz="1600" dirty="0"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latin typeface="Lexend Deca"/>
                <a:ea typeface="Lexend Deca"/>
                <a:cs typeface="Lexend Deca"/>
                <a:sym typeface="Lexend Deca"/>
              </a:rPr>
              <a:t>               </a:t>
            </a:r>
            <a:r>
              <a:rPr lang="es-CL" sz="1400" b="1" dirty="0">
                <a:latin typeface="Lexend Deca"/>
                <a:ea typeface="Lexend Deca"/>
                <a:cs typeface="Lexend Deca"/>
                <a:sym typeface="Lexend Deca"/>
              </a:rPr>
              <a:t>NDVI - </a:t>
            </a:r>
            <a:r>
              <a:rPr lang="es-CL" sz="1400" b="1" dirty="0" smtClean="0">
                <a:latin typeface="Lexend Deca"/>
                <a:ea typeface="Lexend Deca"/>
                <a:cs typeface="Lexend Deca"/>
                <a:sym typeface="Lexend Deca"/>
              </a:rPr>
              <a:t>2024              		NDBI – 2024</a:t>
            </a:r>
            <a:r>
              <a:rPr lang="es-CL" sz="1400" b="1" dirty="0">
                <a:latin typeface="Lexend Deca"/>
                <a:ea typeface="Lexend Deca"/>
                <a:cs typeface="Lexend Deca"/>
                <a:sym typeface="Lexend Deca"/>
              </a:rPr>
              <a:t>	</a:t>
            </a:r>
            <a:r>
              <a:rPr lang="es-CL" sz="1400" b="1" dirty="0" smtClean="0">
                <a:latin typeface="Lexend Deca"/>
                <a:ea typeface="Lexend Deca"/>
                <a:cs typeface="Lexend Deca"/>
                <a:sym typeface="Lexend Deca"/>
              </a:rPr>
              <a:t>	    LST </a:t>
            </a:r>
            <a:r>
              <a:rPr lang="es-CL" sz="1400" b="1" dirty="0">
                <a:latin typeface="Lexend Deca"/>
                <a:ea typeface="Lexend Deca"/>
                <a:cs typeface="Lexend Deca"/>
                <a:sym typeface="Lexend Deca"/>
              </a:rPr>
              <a:t>- 2024</a:t>
            </a:r>
            <a:endParaRPr sz="1400" b="1" dirty="0">
              <a:latin typeface="Lexend Deca"/>
              <a:ea typeface="Lexend Deca"/>
              <a:cs typeface="Lexend Deca"/>
              <a:sym typeface="Lexend Deca"/>
            </a:endParaRPr>
          </a:p>
        </p:txBody>
      </p:sp>
      <p:grpSp>
        <p:nvGrpSpPr>
          <p:cNvPr id="79" name="Google Shape;79;g365bd7597fd_0_56"/>
          <p:cNvGrpSpPr/>
          <p:nvPr/>
        </p:nvGrpSpPr>
        <p:grpSpPr>
          <a:xfrm>
            <a:off x="313600" y="2571750"/>
            <a:ext cx="8424000" cy="2391755"/>
            <a:chOff x="313600" y="2574575"/>
            <a:chExt cx="8424000" cy="2391755"/>
          </a:xfrm>
        </p:grpSpPr>
        <p:pic>
          <p:nvPicPr>
            <p:cNvPr id="80" name="Google Shape;80;g365bd7597fd_0_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72200" y="2574575"/>
              <a:ext cx="2665400" cy="235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g365bd7597fd_0_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92900" y="2577775"/>
              <a:ext cx="2665400" cy="2351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g365bd7597fd_0_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3600" y="2577775"/>
              <a:ext cx="2665400" cy="23885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5bd7597fd_0_8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preliminares</a:t>
            </a:r>
            <a:endParaRPr sz="2400" dirty="0"/>
          </a:p>
        </p:txBody>
      </p:sp>
      <p:sp>
        <p:nvSpPr>
          <p:cNvPr id="68" name="Google Shape;68;g365bd7597fd_0_8"/>
          <p:cNvSpPr txBox="1">
            <a:spLocks noGrp="1"/>
          </p:cNvSpPr>
          <p:nvPr>
            <p:ph type="body" idx="1"/>
          </p:nvPr>
        </p:nvSpPr>
        <p:spPr>
          <a:xfrm>
            <a:off x="313600" y="740575"/>
            <a:ext cx="8424000" cy="1265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exend Deca"/>
              <a:buChar char="●"/>
            </a:pP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Mapas generados con los índices NDVI, NDBI y LST correspondientes a los veranos </a:t>
            </a:r>
            <a:r>
              <a:rPr lang="es-CL" sz="1600" dirty="0" smtClean="0">
                <a:latin typeface="Lexend Deca"/>
                <a:ea typeface="Lexend Deca"/>
                <a:cs typeface="Lexend Deca"/>
                <a:sym typeface="Lexend Deca"/>
              </a:rPr>
              <a:t>entre el 2015 al 2024 y con un AOI acotado a la provincia de Santiago.</a:t>
            </a:r>
          </a:p>
          <a:p>
            <a:pPr lvl="0" indent="-330200" algn="just">
              <a:buSzPts val="1600"/>
              <a:buFont typeface="Lexend Deca"/>
              <a:buChar char="●"/>
            </a:pP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NDVI, </a:t>
            </a: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NDBI 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: Escala típica 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-1 a +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1, mientras más oscuro es el color indica mayor vegetación (NDVI) o alta presencia de edificaciones (NDBI) y viceversa.</a:t>
            </a:r>
          </a:p>
          <a:p>
            <a:pPr lvl="0" indent="-330200" algn="just">
              <a:buSzPts val="1600"/>
              <a:buFont typeface="Lexend Deca"/>
              <a:buChar char="●"/>
            </a:pPr>
            <a:r>
              <a:rPr lang="es-CL" sz="1600" dirty="0">
                <a:latin typeface="Lexend Deca"/>
                <a:ea typeface="Lexend Deca"/>
                <a:cs typeface="Lexend Deca"/>
                <a:sym typeface="Lexend Deca"/>
              </a:rPr>
              <a:t>LST (temperatura superficial terrestre): </a:t>
            </a:r>
            <a:r>
              <a:rPr lang="es-CL" sz="1600" dirty="0" smtClean="0">
                <a:latin typeface="Lexend Deca"/>
                <a:ea typeface="Lexend Deca"/>
                <a:cs typeface="Lexend Deca"/>
                <a:sym typeface="Lexend Deca"/>
              </a:rPr>
              <a:t>Grados Celsius, para grados menores las tonalidades se presentan en azul y verde, para grados mayores son amarillo, naranja y rojo.</a:t>
            </a:r>
          </a:p>
          <a:p>
            <a:pPr lvl="1" indent="-330200">
              <a:buSzPts val="1600"/>
              <a:buFont typeface="Lexend Deca"/>
              <a:buChar char="●"/>
            </a:pPr>
            <a:r>
              <a:rPr lang="es-CL" sz="1200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sz="1200" dirty="0"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00" y="3130121"/>
            <a:ext cx="2784718" cy="189636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728" y="3130121"/>
            <a:ext cx="2784718" cy="1896364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64" y="3130121"/>
            <a:ext cx="2784718" cy="1896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5bd7597fd_0_0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Google Shape;88;g365bd7597fd_0_0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3600" y="928925"/>
                <a:ext cx="8424000" cy="25293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>
                  <a:buFont typeface="Lexend Deca"/>
                  <a:buChar char="●"/>
                </a:pP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GeoDataFrame: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Se obtiene un </a:t>
                </a:r>
                <a:r>
                  <a:rPr lang="es-CL" sz="1600" dirty="0" err="1">
                    <a:latin typeface="Lexend Deca"/>
                    <a:ea typeface="Lexend Deca"/>
                    <a:cs typeface="Lexend Deca"/>
                    <a:sym typeface="Lexend Deca"/>
                  </a:rPr>
                  <a:t>GeoDataFrame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 integrado de la Región Metropolitana a nivel comunal, el cual consolida información geoespacial relevante para el análisis de islas de calor y movilidad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urbana:</a:t>
                </a:r>
                <a:endParaRPr lang="es-CL" sz="1600" dirty="0">
                  <a:latin typeface="Lexend Deca"/>
                  <a:ea typeface="Lexend Deca"/>
                  <a:cs typeface="Lexend Deca"/>
                  <a:sym typeface="Lexend Deca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Nombre de la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comuna.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 smtClean="0">
                    <a:latin typeface="Lexend Deca" panose="020B0604020202020204" charset="0"/>
                    <a:ea typeface="Lexend Deca"/>
                    <a:cs typeface="Lexend Deca"/>
                    <a:sym typeface="Lexend Deca"/>
                  </a:rPr>
                  <a:t>Superficie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 smtClean="0">
                            <a:latin typeface="Cambria Math" panose="02040503050406030204" pitchFamily="18" charset="0"/>
                            <a:ea typeface="Lexend Deca"/>
                            <a:cs typeface="Lexend Deca"/>
                            <a:sym typeface="Lexend Dec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AE" sz="1600" b="0" i="0" smtClean="0">
                            <a:latin typeface="Cambria Math" panose="02040503050406030204" pitchFamily="18" charset="0"/>
                            <a:ea typeface="Lexend Deca"/>
                            <a:cs typeface="Lexend Deca"/>
                            <a:sym typeface="Lexend Deca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es-ES" sz="1600" b="0" i="0" smtClean="0">
                            <a:latin typeface="Cambria Math" panose="02040503050406030204" pitchFamily="18" charset="0"/>
                            <a:ea typeface="Lexend Deca"/>
                            <a:cs typeface="Lexend Deca"/>
                            <a:sym typeface="Lexend Deca"/>
                          </a:rPr>
                          <m:t>M</m:t>
                        </m:r>
                      </m:e>
                      <m:sup>
                        <m:r>
                          <a:rPr lang="ar-AE" sz="1600" i="0" smtClean="0">
                            <a:latin typeface="Cambria Math" panose="02040503050406030204" pitchFamily="18" charset="0"/>
                            <a:ea typeface="Lexend Deca"/>
                            <a:cs typeface="Lexend Deca"/>
                            <a:sym typeface="Lexend Deca"/>
                          </a:rPr>
                          <m:t>2</m:t>
                        </m:r>
                      </m:sup>
                    </m:sSup>
                    <m:r>
                      <a:rPr lang="es-ES" sz="1600" b="0" i="0" smtClean="0">
                        <a:latin typeface="Cambria Math" panose="02040503050406030204" pitchFamily="18" charset="0"/>
                        <a:ea typeface="Lexend Deca"/>
                        <a:cs typeface="Lexend Deca"/>
                        <a:sym typeface="Lexend Deca"/>
                      </a:rPr>
                      <m:t>.</m:t>
                    </m:r>
                  </m:oMath>
                </a14:m>
                <a:endParaRPr lang="ar-AE" sz="1600" dirty="0" smtClean="0">
                  <a:latin typeface="Lexend Deca" panose="020B0604020202020204" charset="0"/>
                  <a:ea typeface="Lexend Deca"/>
                  <a:cs typeface="Lexend Deca"/>
                  <a:sym typeface="Lexend Deca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Media del LST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(temperatura superficial terrestre):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2015 y 2024.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Media del NDVI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(índice de vegetación):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2015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y 2024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Media del NDBI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(índice de edificación):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2015 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y 2024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Longitud de </a:t>
                </a:r>
                <a:r>
                  <a:rPr lang="es-CL" sz="1600" dirty="0" err="1">
                    <a:latin typeface="Lexend Deca"/>
                    <a:ea typeface="Lexend Deca"/>
                    <a:cs typeface="Lexend Deca"/>
                    <a:sym typeface="Lexend Deca"/>
                  </a:rPr>
                  <a:t>ciclovías</a:t>
                </a: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 (en 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km).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Longitud de red vial (en km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).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buFont typeface="Lexend Deca"/>
                  <a:buChar char="○"/>
                </a:pPr>
                <a:r>
                  <a:rPr lang="es-CL" sz="1600" dirty="0">
                    <a:latin typeface="Lexend Deca"/>
                    <a:ea typeface="Lexend Deca"/>
                    <a:cs typeface="Lexend Deca"/>
                    <a:sym typeface="Lexend Deca"/>
                  </a:rPr>
                  <a:t>Cantidad de paraderos o estaciones de transporte público</a:t>
                </a:r>
                <a:r>
                  <a:rPr lang="es-CL" sz="1600" dirty="0" smtClean="0">
                    <a:latin typeface="Lexend Deca"/>
                    <a:ea typeface="Lexend Deca"/>
                    <a:cs typeface="Lexend Deca"/>
                    <a:sym typeface="Lexend Deca"/>
                  </a:rPr>
                  <a:t>.</a:t>
                </a:r>
                <a:endParaRPr sz="1600" dirty="0">
                  <a:latin typeface="Lexend Deca"/>
                  <a:ea typeface="Lexend Deca"/>
                  <a:cs typeface="Lexend Deca"/>
                  <a:sym typeface="Lexend Deca"/>
                </a:endParaRPr>
              </a:p>
            </p:txBody>
          </p:sp>
        </mc:Choice>
        <mc:Fallback xmlns="">
          <p:sp>
            <p:nvSpPr>
              <p:cNvPr id="88" name="Google Shape;88;g365bd7597fd_0_0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3600" y="928925"/>
                <a:ext cx="8424000" cy="2529383"/>
              </a:xfrm>
              <a:prstGeom prst="rect">
                <a:avLst/>
              </a:prstGeom>
              <a:blipFill rotWithShape="0">
                <a:blip r:embed="rId3"/>
                <a:stretch>
                  <a:fillRect b="-146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00" y="3917501"/>
            <a:ext cx="8569569" cy="9827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Diferencias Interanuales</a:t>
            </a:r>
            <a:endParaRPr sz="2400" dirty="0"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161200" y="734879"/>
            <a:ext cx="8424000" cy="62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Font typeface="Lexend Deca"/>
              <a:buChar char="●"/>
            </a:pP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El 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fenómeno de islas de calor está presente en todas las zonas, pero con distinta intensidad interanual. Las zonas Poniente y Norte presentan más variabilidad térmica, mientras que Centro y Sur son más estables</a:t>
            </a:r>
            <a:endParaRPr lang="es-CL" sz="1600" dirty="0" smtClean="0">
              <a:latin typeface="Lexend Deca"/>
              <a:ea typeface="Lexend Deca"/>
              <a:cs typeface="Lexend Deca"/>
              <a:sym typeface="Lexend Deca"/>
            </a:endParaRP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Lexend Deca"/>
              <a:buChar char="○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Todos los sectores muestran una disminución de LST en 2024 respecto a 2023</a:t>
            </a:r>
            <a:r>
              <a:rPr lang="es-CL" sz="1600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Lexend Deca"/>
              <a:buChar char="○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Mayor vegetación o cambios en uso de 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suelo.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Font typeface="Lexend Deca"/>
              <a:buChar char="○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Implementación de infraestructura verde o expansión urbana que afecta la absorción 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térmica</a:t>
            </a:r>
            <a:r>
              <a:rPr lang="es-ES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lang="es-CL" dirty="0"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00" y="2847217"/>
            <a:ext cx="3923863" cy="212622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61" y="2836353"/>
            <a:ext cx="4217639" cy="2147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Regresión Espacial</a:t>
            </a:r>
            <a:endParaRPr sz="2400" dirty="0"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161200" y="734879"/>
            <a:ext cx="8424000" cy="62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Font typeface="Lexend Deca"/>
              <a:buChar char="●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Existe una fuerte dependencia espacial en la distribución de la temperatura superficial urbana (LST), especialmente en 2024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</a:p>
          <a:p>
            <a:pPr lvl="0" algn="just">
              <a:buFont typeface="Lexend Deca"/>
              <a:buChar char="●"/>
            </a:pP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El 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tamaño de la comuna aparece como un factor relevante: comunas más grandes tienden a tener menor LST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</a:p>
          <a:p>
            <a:pPr lvl="0" algn="just">
              <a:buFont typeface="Lexend Deca"/>
              <a:buChar char="●"/>
            </a:pP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Las 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variables asociadas a infraestructura de transporte (vialidad, </a:t>
            </a:r>
            <a:r>
              <a:rPr lang="es-ES" sz="1600" dirty="0" err="1">
                <a:latin typeface="Lexend Deca"/>
                <a:ea typeface="Lexend Deca"/>
                <a:cs typeface="Lexend Deca"/>
                <a:sym typeface="Lexend Deca"/>
              </a:rPr>
              <a:t>ciclovías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, paradas) no tienen un impacto significativo directo sobre el LST en estos modelos, lo cual sugiere que su efecto puede estar mediado por otras variables o escalas</a:t>
            </a:r>
            <a:r>
              <a:rPr lang="es-ES" sz="1400" dirty="0"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lang="es-CL" sz="1400" dirty="0"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860" y="2866291"/>
            <a:ext cx="2371108" cy="223520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863" y="2866292"/>
            <a:ext cx="2371107" cy="223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5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2400" dirty="0" smtClean="0"/>
              <a:t>Resultados </a:t>
            </a:r>
            <a:r>
              <a:rPr lang="es-CL" sz="2400" dirty="0" err="1" smtClean="0"/>
              <a:t>Autocorrelación</a:t>
            </a:r>
            <a:r>
              <a:rPr lang="es-CL" sz="2400" dirty="0" smtClean="0"/>
              <a:t> Espacial</a:t>
            </a:r>
            <a:endParaRPr sz="2400" dirty="0"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161200" y="734878"/>
            <a:ext cx="8424000" cy="1885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Font typeface="Lexend Deca"/>
              <a:buChar char="●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Existe un patrón espacial claro en la distribución de la temperatura superficial (LST), evidenciado por un valor de </a:t>
            </a:r>
            <a:r>
              <a:rPr lang="es-ES" sz="1600" dirty="0" err="1">
                <a:latin typeface="Lexend Deca"/>
                <a:ea typeface="Lexend Deca"/>
                <a:cs typeface="Lexend Deca"/>
                <a:sym typeface="Lexend Deca"/>
              </a:rPr>
              <a:t>Moran’s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 I &gt; 0.6 con significancia estadística (p &lt; 0.01) tanto en 2023 como 2024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.</a:t>
            </a:r>
          </a:p>
          <a:p>
            <a:pPr lvl="0" algn="just">
              <a:buFont typeface="Lexend Deca"/>
              <a:buChar char="●"/>
            </a:pPr>
            <a:endParaRPr lang="es-ES" sz="1600" dirty="0" smtClean="0">
              <a:latin typeface="Lexend Deca"/>
              <a:ea typeface="Lexend Deca"/>
              <a:cs typeface="Lexend Deca"/>
              <a:sym typeface="Lexend Deca"/>
            </a:endParaRPr>
          </a:p>
          <a:p>
            <a:pPr lvl="0" algn="just">
              <a:buFont typeface="Lexend Deca"/>
              <a:buChar char="●"/>
            </a:pP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Comunas con altas LST están agrupadas entre sí, lo mismo ocurre con comunas de bajas temperaturas, lo que indica una </a:t>
            </a:r>
            <a:r>
              <a:rPr lang="es-ES" sz="1600" dirty="0" err="1">
                <a:latin typeface="Lexend Deca"/>
                <a:ea typeface="Lexend Deca"/>
                <a:cs typeface="Lexend Deca"/>
                <a:sym typeface="Lexend Deca"/>
              </a:rPr>
              <a:t>autocorrelación</a:t>
            </a:r>
            <a:r>
              <a:rPr lang="es-ES" sz="1600" dirty="0">
                <a:latin typeface="Lexend Deca"/>
                <a:ea typeface="Lexend Deca"/>
                <a:cs typeface="Lexend Deca"/>
                <a:sym typeface="Lexend Deca"/>
              </a:rPr>
              <a:t> espacial positiva </a:t>
            </a:r>
            <a:r>
              <a:rPr lang="es-ES" sz="1600" dirty="0" smtClean="0">
                <a:latin typeface="Lexend Deca"/>
                <a:ea typeface="Lexend Deca"/>
                <a:cs typeface="Lexend Deca"/>
                <a:sym typeface="Lexend Deca"/>
              </a:rPr>
              <a:t>fuerte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8" y="2878016"/>
            <a:ext cx="3908532" cy="198706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600" y="2878016"/>
            <a:ext cx="3938711" cy="19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1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-CL" sz="4000" dirty="0" smtClean="0"/>
              <a:t>Conclusión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stel Minimalist Elegant Lines Portfolio by Slidesgo">
  <a:themeElements>
    <a:clrScheme name="Simple Light">
      <a:dk1>
        <a:srgbClr val="191919"/>
      </a:dk1>
      <a:lt1>
        <a:srgbClr val="E7E4F1"/>
      </a:lt1>
      <a:dk2>
        <a:srgbClr val="F5F3ED"/>
      </a:dk2>
      <a:lt2>
        <a:srgbClr val="FFE0A7"/>
      </a:lt2>
      <a:accent1>
        <a:srgbClr val="F9CFD0"/>
      </a:accent1>
      <a:accent2>
        <a:srgbClr val="D9CFDE"/>
      </a:accent2>
      <a:accent3>
        <a:srgbClr val="D2DAE9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845</Words>
  <Application>Microsoft Office PowerPoint</Application>
  <PresentationFormat>Presentación en pantalla (16:9)</PresentationFormat>
  <Paragraphs>77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Cambria Math</vt:lpstr>
      <vt:lpstr>Lexend Deca Medium</vt:lpstr>
      <vt:lpstr>Lexend Deca</vt:lpstr>
      <vt:lpstr>Catamaran</vt:lpstr>
      <vt:lpstr>Pastel Minimalist Elegant Lines Portfolio by Slidesgo</vt:lpstr>
      <vt:lpstr>Ciencia de Datos Geoespaciales Trabajo Final</vt:lpstr>
      <vt:lpstr>Introducción y Descripción del Problema</vt:lpstr>
      <vt:lpstr>Introducción y Descripción del Problema</vt:lpstr>
      <vt:lpstr>Identificación y Descripción de Datos a utilizar </vt:lpstr>
      <vt:lpstr>Procesamiento de Datos Geoespaciales</vt:lpstr>
      <vt:lpstr>Resultados preliminares</vt:lpstr>
      <vt:lpstr>Resultados preliminares</vt:lpstr>
      <vt:lpstr>Resultados preliminares</vt:lpstr>
      <vt:lpstr>Resultados</vt:lpstr>
      <vt:lpstr>Resultados Diferencias Interanuales</vt:lpstr>
      <vt:lpstr>Resultados Regresión Espacial</vt:lpstr>
      <vt:lpstr>Resultados Autocorrelación Espacial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Ciencia de Datos Geoespaciales Trabajo Final</dc:title>
  <dc:creator>Aguilera Saldaña, Richard Aldair</dc:creator>
  <cp:lastModifiedBy>Personal</cp:lastModifiedBy>
  <cp:revision>15</cp:revision>
  <dcterms:modified xsi:type="dcterms:W3CDTF">2025-07-09T07:42:45Z</dcterms:modified>
</cp:coreProperties>
</file>